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41148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Trebuchet MS"/>
              </a:rPr>
              <a:t>SWT2026 Microcenter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00A896"/>
                </a:solidFill>
                <a:latin typeface="Trebuchet MS"/>
              </a:rPr>
              <a:t>Automated Web Testing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Author:  </a:t>
            </a:r>
            <a:r>
              <a:rPr sz="1400">
                <a:solidFill>
                  <a:srgbClr val="FFFFFF"/>
                </a:solidFill>
                <a:latin typeface="Calibri"/>
              </a:rPr>
              <a:t>Michael Molczyk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96511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Course:  </a:t>
            </a:r>
            <a:r>
              <a:rPr sz="1400">
                <a:solidFill>
                  <a:srgbClr val="FFFFFF"/>
                </a:solidFill>
                <a:latin typeface="Calibri"/>
              </a:rPr>
              <a:t>SWT 2026 - Software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43983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Institution:  </a:t>
            </a:r>
            <a:r>
              <a:rPr sz="1400">
                <a:solidFill>
                  <a:srgbClr val="FFFFFF"/>
                </a:solidFill>
                <a:latin typeface="Calibri"/>
              </a:rPr>
              <a:t>FGCU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91455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4A3B8"/>
                </a:solidFill>
                <a:latin typeface="Calibri"/>
              </a:rPr>
              <a:t>Date:  </a:t>
            </a:r>
            <a:r>
              <a:rPr sz="1400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github.com/MichaelMolczyk/SWT2026MicrocenterProject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1.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49807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455"/>
                </a:solidFill>
                <a:latin typeface="Calibri"/>
              </a:rPr>
              <a:t>Build a comprehensive automated end-to-end web testing suite for Microcenter.com, a major electronics retail e-commerce website. The suite validates core user-facing functionality using Java, Selenium WebDriver, TestNG, and Maven, while incorporating stealth browser automation to bypass Cloudflare anti-bot protection.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0" y="1280160"/>
            <a:ext cx="3108960" cy="10972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0" y="137160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B0E0DB"/>
                </a:solidFill>
                <a:latin typeface="Trebuchet MS"/>
              </a:rPr>
              <a:t>TARGET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691640"/>
            <a:ext cx="2926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Trebuchet MS"/>
              </a:rPr>
              <a:t>microcenter.com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Features Under 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Homepage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Carousel scrolling, banner ads, category navigation, interactive elements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Top Deals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Price range filtering, pagination, Quick View popups, add-to-cart from listings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42900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342900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01000" y="356616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Add-to-Cart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86791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Popup interactions, continue shopping, view cart, cross-sell suggestions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Shopping Cart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Add/remove items, saved list management, checkout flow, store 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6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Computer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Sidebar links, embedded video, promotional banners, product images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617720"/>
            <a:ext cx="33832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0" y="4617720"/>
            <a:ext cx="54864" cy="10515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475488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65A82"/>
                </a:solidFill>
                <a:latin typeface="Trebuchet MS"/>
              </a:rPr>
              <a:t>Dropdown Validation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056632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Computers, PC Parts, Apple dropdown menus vs page-level link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2. Test Execution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Maven Invocation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mvn test triggers Surefire Plugin, reads testng.xml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891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TestNG Suite Init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Parses 8 test groups with parallel="classes" mode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46720" y="137160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34416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Thread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78308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Creates thread pool (up to 4 threads) for parallel class execution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@BeforeMethod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Builds UndetectedChromeDriver with 14 stealth JS scripts via CDP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891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Cloudflare Bypass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Opens new tab, waits 12-20s for JS challenge, checks cf_clearance cookie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09560" y="29718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46720" y="310896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08152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Popup Dismissal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52044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Traverses Shadow DOM to close modals, checks regular DOM overlays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315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Test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Assertions via WebDriverWait (15s), Actions API, JavaScript execution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3891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@AfterMethod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driver.quit() closes browser, cleans temp data, releases thread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470916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0" y="4846320"/>
            <a:ext cx="411480" cy="4114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818888"/>
            <a:ext cx="2606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E1F3E"/>
                </a:solidFill>
                <a:latin typeface="Trebuchet MS"/>
              </a:rPr>
              <a:t>Reporting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57800"/>
            <a:ext cx="310896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TestNG generates HTML/XML reports in target/surefire-reports/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Cloudflare Bypass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334455"/>
                </a:solidFill>
                <a:latin typeface="Calibri"/>
              </a:rPr>
              <a:t>A multi-layered approach to bypassing Cloudflare anti-bot detection, which would otherwise block Selenium-driven browsers.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2103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212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Driver Patching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31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DriverPatcher replaces the cdc_ detection string in the ChromeDriver binary with a benign variable name, preventing JavaScript-based driver detection.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" y="3246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355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54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Stealth 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14 JavaScript evasion scripts injected via CDP on every new document, masking navigator.webdriver, chrome.runtime, plugins, permissions, WebGL vendor, and more.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06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05840" y="4389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498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297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Challenge Wait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617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cloudflareGet() opens the target URL in a new tab and waits 12-20 seconds for the Cloudflare JS challenge to auto-solve, then checks for the cf_clearance cookie.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106984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349240"/>
            <a:ext cx="54864" cy="10058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5840" y="5532120"/>
            <a:ext cx="109728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641848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Layer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440680"/>
            <a:ext cx="8686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E1F3E"/>
                </a:solidFill>
                <a:latin typeface="Trebuchet MS"/>
              </a:rPr>
              <a:t>Human Simulation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760720"/>
            <a:ext cx="8686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Random delays of 1-3 seconds between actions, realistic 1920x1080 resolution, real user agent string, and natural browsing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3. 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E1F3E"/>
                </a:solidFill>
                <a:latin typeface="Trebuchet MS"/>
              </a:rPr>
              <a:t>Core Stack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6479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Java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9164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Primary programming language for all test classes and utility code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03704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13055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Selenium 4.29.0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3055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Browser automation: WebDriver API, Actions, WebDriverWait, locators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42616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569464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TestNG 7.9.0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69464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Test framework: annotations, assertions, parallel execution, reporting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081528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3008376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Maven 3.x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008376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 tool and dependency manager with Surefire Plugin (3.2.5)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20440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3447288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Google Chrome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447288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Target browser, auto-detected via system path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95935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8862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Git /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88620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Version control and remote repository hosting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0E1F3E"/>
                </a:solidFill>
                <a:latin typeface="Trebuchet MS"/>
              </a:rPr>
              <a:t>AI-Assisted Development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91947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484632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Grok (xAI)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846320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Research and troubleshooting for Cloudflare bypass strategies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358384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88720" y="5285232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E1F3E"/>
                </a:solidFill>
                <a:latin typeface="Calibri"/>
              </a:rPr>
              <a:t>Claude (Anthropic) - $150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285232"/>
            <a:ext cx="35661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Building test classes from written test cases (paid subscription)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Supporting Libraries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6199632"/>
            <a:ext cx="137160" cy="1371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88720" y="6126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Lombok 1.18.34 / SLF4J 2.0.16 / Gson 2.11.0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612648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Code gen, logging, JSON parsing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1234440"/>
            <a:ext cx="4297680" cy="530352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89520" y="1417320"/>
            <a:ext cx="3840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FFFFF"/>
                </a:solidFill>
                <a:latin typeface="Trebuchet MS"/>
              </a:rPr>
              <a:t>Anti-Detection Stack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0" y="201168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589520" y="201168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208483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UndetectedChromeDriver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237744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Wrapper with binary patching, CDP stealth, cloudflareGet()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06324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589520" y="306324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863840" y="313639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DriverPatcher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42900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Downloads and patches ChromeDriver to remove cdc_ markers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589520" y="411480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63840" y="418795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SeleniumStealthOptions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448056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Injects 14 JS evasion scripts via Chrome DevTools Protocol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5166360"/>
            <a:ext cx="3749039" cy="914400"/>
          </a:xfrm>
          <a:prstGeom prst="rect">
            <a:avLst/>
          </a:prstGeom>
          <a:solidFill>
            <a:srgbClr val="1A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589520" y="5166360"/>
            <a:ext cx="45720" cy="9144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0" y="5239512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0A896"/>
                </a:solidFill>
                <a:latin typeface="Calibri"/>
              </a:rPr>
              <a:t>Stealth JS Library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5532120"/>
            <a:ext cx="3383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BBCCDD"/>
                </a:solidFill>
                <a:latin typeface="Calibri"/>
              </a:rPr>
              <a:t>Masks webdriver, runtime, plugins, WebGL, permissions, codecs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4. Test Suite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Test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17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Test Classes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234440"/>
            <a:ext cx="2011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03520" y="1234440"/>
            <a:ext cx="20116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3716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65A82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28800"/>
            <a:ext cx="2011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Parallel Threads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2496312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49631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249631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496312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34640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889504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homePage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8950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2889504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HP_01-06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889504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Carousel, banners, category navigation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73552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3328416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topDealsPage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2841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32841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TD_01-08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28416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Filters, pagination, Quick View, add-to-cart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712464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76732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addToCart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6732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76732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ATC_01-06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76732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Popup close, continue shopping, cross-sell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51376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206240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206240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206240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C_01-06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206240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Add/remove, saved list, checkout, store map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590288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4645152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compPage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645152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4645152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CPE_01-05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645152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Sidebar links, video embed, banners, images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29200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084064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compCompare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084064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74720" y="5084064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CDC_01-08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084064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side list links of similar names to verify they lead to the same page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468112"/>
            <a:ext cx="10698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5522976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pcCompare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522976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0" y="5522976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PCDC_01-12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0" y="5522976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side list links of similar names to verify they lead to the same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907024"/>
            <a:ext cx="10698480" cy="43891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5961888"/>
            <a:ext cx="1920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appleCompare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5961888"/>
            <a:ext cx="640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74720" y="5961888"/>
            <a:ext cx="1188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ADC_01-06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4880" y="5961888"/>
            <a:ext cx="6400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334455"/>
                </a:solidFill>
                <a:latin typeface="Calibri"/>
              </a:rPr>
              <a:t>Compares dropdown links and ribbon bar links of similar names to verify they lead to the same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Homepage &amp; Top Deals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homePage.java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HP_01 - HP_06  |  Homepage carousel and navigation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testTopDealsScroll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Verify Top Deals carousel scrolling with multiple fallback strategies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834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testTopDealsAddMemory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Click Top Deals category and add item to cart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testSideAdChangeWithArrow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 ad carousel: right 5x, left 6x arrow navigation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148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testSideAdChangeWithDot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 ad carousel dot-based navigation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7548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testTopAdChangeWithArrow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Top banner carousel arrow navigation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3949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HP_06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testTopAdChangeWithDot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Top banner carousel dot navigation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topDealsPage.java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tests  |  TD_01 - TD_08  |  Top Deals filters, pagination, Quick 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testPriceRangeSlide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50592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Adjust price slider to $25-$500 range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715767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2734055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715767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testPriceRangeApplyFilter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971799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Apply filter button with price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236974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255262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236974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testChangeItemsPerPage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493006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Change pagination to 96 items per page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3758181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3776469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758181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testIncludeOutOfStock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014213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Toggle 2 out-of-stock checkboxes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279388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297676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27938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testQuickViewCloseX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4535420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popup close with X button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4800595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4818883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4800595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testQuickViewClickOff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056627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close by clicking outside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5321802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534009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321802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testQuickViewAddToCart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5577834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Quick View ADD TO CART button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5843009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3680" y="5861297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TD_08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5843009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E1F3E"/>
                </a:solidFill>
                <a:latin typeface="Consolas"/>
              </a:rPr>
              <a:t>testAddToCartFromListing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6099041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Direct ADD TO CART from product listing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Add-to-Cart &amp; Cart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addToCart.java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ATC_01 - ATC_06  |  Add-to-cart popup interactions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testScrollInPopup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Scroll within the Add to Cart popup window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834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testClosePopupWithX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Close popup using the X button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4747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testClosePopupClickOff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Close popup by clicking outside the overlay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1148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testContinueShopping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CONTINUE SHOPPING button closes popup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7548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testAddAnotherItem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Add cross-sell product from BOUGHT WITH section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3949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ATC_06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testViewCart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VIEW CART button navigates to cart 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cart.java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C_01 - C_06  |  Shopping cart operations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testAddFromCartToList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Move item to saved list using List button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283464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834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testAddFromListToCart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Move item from list back to cart via Pickup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47472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4747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testRemoveItem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Remove item from cart with Remove button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11480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1148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testMapYourTrip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MAP YOUR TRIP displays store location map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75488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7548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testCheckout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CHECKOUT button navigates to checkout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3949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C_06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3949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testPrintMap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Print store map functionality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Computers &amp; Compare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compPage.java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5 tests  |  CPE_01 - CPE_05  |  Computer category page elements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194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testDesktopLinksMatch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Sidebar and main content desktop links point to same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2608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443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92608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testYouTubeEmbed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2004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Verify YouTube embedded video displays correctly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5760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758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576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testComputerSideBanner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319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Computer side banner displays and is clickable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8912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3891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testPriorityCareBanner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6634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Priority Care banner displays and is interactive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120640"/>
            <a:ext cx="640080" cy="274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138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CPE_05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12064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onsolas"/>
              </a:rPr>
              <a:t>testImageVerification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394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Product/promotional image loads correctly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2344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compCompare.java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8 tests  |  CDC_01 - CDC_08  |  Dropdown vs side list link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Desktop Computers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450592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715767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2734055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2715767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Gaming Desktops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2971799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236974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80" y="3255262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3236974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Refurbished Desktops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3493006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758181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776469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3758181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Desktop Workstations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60920" y="4014213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279388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4297676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279388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Laptops/Notebooks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4535420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4800595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4818883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4800595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Refurbished Laptops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5056627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5321802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5340090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5321802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Laptop Workstations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5577834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5843009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5861297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CDC_08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5843009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E1F3E"/>
                </a:solidFill>
                <a:latin typeface="Calibri"/>
              </a:rPr>
              <a:t>All Servers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6099041"/>
            <a:ext cx="39319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side list 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Trebuchet MS"/>
              </a:rPr>
              <a:t>Test Class Details: PC Parts &amp; Apple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30352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pcCompare.java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12 tests  |  PCDC_01 - PCDC_12  |  Dropdown vs side list link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19456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0370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19456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AMD Bundles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7860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58775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57860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Intel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962656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971800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962656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ASUS Build Bundles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346704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355848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346704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Corsair Build Bundles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3730752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739896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730752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Processors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11480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12394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11480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Motherboards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49884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50799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9884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Graphics Cards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882896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4892040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882896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Computer Memory/RAM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266944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5840" y="5276088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266944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Hard Drives &amp; SSDs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5650992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5660136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5650992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Computer Cases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0" y="6035040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5840" y="6044184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6035040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Power Supplies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0" y="6419088"/>
            <a:ext cx="73152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" y="6428232"/>
            <a:ext cx="7315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PCDC_12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6419088"/>
            <a:ext cx="38404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0E1F3E"/>
                </a:solidFill>
                <a:latin typeface="Calibri"/>
              </a:rPr>
              <a:t>All Fans &amp; Cooling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123444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09360" y="1234440"/>
            <a:ext cx="530352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14173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appleCompare.java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6 tests  |  ADC_01 - ADC_06  |  Dropdown vs ribbon bar link comparison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22128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1945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MacBook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20" y="24688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283464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83680" y="285292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83464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Mac Desktops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310896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0" y="347472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83680" y="349300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0920" y="347472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iPad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374904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0" y="411480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83680" y="413308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411480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Apple Watch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4389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75488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83680" y="477316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475488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AirPods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50292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80" y="5394960"/>
            <a:ext cx="6400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83680" y="5413248"/>
            <a:ext cx="6400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ADC_06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20" y="5394960"/>
            <a:ext cx="3931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Calibri"/>
              </a:rPr>
              <a:t>Accessories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60920" y="566928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Dropdown link vs ribbon bar 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5.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Project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me.bramar.undetectedselenium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Stealth driver: UndetectedChromeDriver, DriverPatcher, SeleniumStealthOptions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org.example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5351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8 test classes + TestUtils + StealthValidation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52044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src/main/selenium-stealth/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2219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14 JavaScript evasion scripts (chrome, navigator, WebGL, etc.)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434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34340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testng.xml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9087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Suite config: 8 groups, parallel classes, configurable threads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21208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212080"/>
            <a:ext cx="54864" cy="74980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4846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65A82"/>
                </a:solidFill>
                <a:latin typeface="Consolas"/>
              </a:rPr>
              <a:t>pom.xml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59552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Maven build: Java 17, Selenium 4.29.0, TestNG 7.9.0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0E1F3E"/>
                </a:solidFill>
                <a:latin typeface="Trebuchet MS"/>
              </a:rPr>
              <a:t>Key Design Decisions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7373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583680" y="17373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1783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Independent Browser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0848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Each test creates and destroys its own Chrome instance for complete isolation and parallel safety.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6517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583680" y="26517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Cloudflare-First Navigation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9992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Every first-load goes through cloudflareGet(); subsequent loads use standard driver.get() with existing cookies.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5661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0" y="35661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3611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Shadow DOM Awareness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136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Popup dismissal traverses Shadow DOM using JavaScript for modern web components.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0" y="44805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583680" y="44805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4526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Centralized Utilities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280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TestUtils provides click, scroll, hover, find, and navigation helpers across all 8 test classes.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5394960"/>
            <a:ext cx="502920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583680" y="5394960"/>
            <a:ext cx="54864" cy="7955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0" y="54406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0E1F3E"/>
                </a:solidFill>
                <a:latin typeface="Trebuchet MS"/>
              </a:rPr>
              <a:t>Configurable Parallelism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5742432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334455"/>
                </a:solidFill>
                <a:latin typeface="Calibri"/>
              </a:rPr>
              <a:t>Thread count adjustable in testng.xml from 1 (sequential) to 8 (full parallel) with no code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Trebuchet MS"/>
              </a:rPr>
              <a:t>Execution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Total Test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Across 8 independent test classes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Test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Homepage, Top Deals, Cart, Compare, and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7373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598" y="17373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8" y="19202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8" y="24688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Max Parallel Threads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8" y="27889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Configurable via testng.xml thread-count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Stealth JS Scripts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Injected via Chrome DevTools Protocol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59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59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80559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12-20s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CF Bypass Wait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Per first navigation with cookie persistence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598" y="3566160"/>
            <a:ext cx="3383280" cy="155448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598" y="3566160"/>
            <a:ext cx="3383280" cy="54864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8" y="3749040"/>
            <a:ext cx="33832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0A896"/>
                </a:solidFill>
                <a:latin typeface="Trebuchet MS"/>
              </a:rPr>
              <a:t>mvn 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42976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Run Command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8" y="4617720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Single command to execute full test suite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SWT2026 Microcenter Project  |  Michael Molczyk  |  FGCU  |  April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Project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1858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1858256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Cloudflare Anti-Bot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83935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Standard Selenium is immediately detected and blocked by Cloudflare, so no test could even load the site.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Claude didn't have a solution, so I had to bring Grok (</a:t>
            </a:r>
            <a:r>
              <a:rPr sz="1100" dirty="0" err="1">
                <a:solidFill>
                  <a:srgbClr val="334455"/>
                </a:solidFill>
                <a:latin typeface="Calibri"/>
              </a:rPr>
              <a:t>xAI</a:t>
            </a:r>
            <a:r>
              <a:rPr sz="1100" dirty="0">
                <a:solidFill>
                  <a:srgbClr val="334455"/>
                </a:solidFill>
                <a:latin typeface="Calibri"/>
              </a:rPr>
              <a:t>) onto the team specifically to research how to get around this.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Through that research I found the </a:t>
            </a:r>
            <a:r>
              <a:rPr sz="1100" dirty="0" err="1">
                <a:solidFill>
                  <a:srgbClr val="334455"/>
                </a:solidFill>
                <a:latin typeface="Calibri"/>
              </a:rPr>
              <a:t>undetectedselenium</a:t>
            </a:r>
            <a:r>
              <a:rPr sz="1100" dirty="0">
                <a:solidFill>
                  <a:srgbClr val="334455"/>
                </a:solidFill>
                <a:latin typeface="Calibri"/>
              </a:rPr>
              <a:t> Java library by bramar2, which became the backbone of the entire stealth layer.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Getting all four evasion layers (binary patching, 14 stealth JS scripts, challenge wait timing, and human behavior simulation) working together reliably took significant experimentation by Claude.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05030"/>
            <a:ext cx="10698480" cy="17210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305031"/>
            <a:ext cx="54864" cy="1721094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396471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AI Assistants Required Constant Correction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54526"/>
            <a:ext cx="10058400" cy="14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While Claude did well in generating code, it would frequently get stuck in loops trying to solve the same problem.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I had to frequently remind it that it was wasting time and that it had done similar tasks before.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Having all the requirements for test cases and a premade structure for the project environment helped significantly.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The more foundation the AI has, the easier the process will be.</a:t>
            </a:r>
            <a:endParaRPr lang="en-US" sz="1100" dirty="0">
              <a:solidFill>
                <a:srgbClr val="334455"/>
              </a:solidFill>
              <a:latin typeface="Calibri"/>
            </a:endParaRP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lang="en-US" sz="1100" dirty="0">
                <a:solidFill>
                  <a:srgbClr val="334455"/>
                </a:solidFill>
              </a:rPr>
              <a:t>• The cost adds up to a considerable amount </a:t>
            </a:r>
            <a:endParaRPr sz="1100" dirty="0">
              <a:solidFill>
                <a:srgbClr val="334455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5257800"/>
            <a:ext cx="106984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5257800"/>
            <a:ext cx="45719" cy="13716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349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Test Flakiness from Unpredictable 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Cloudflare's JS challenge resolves anywhere from 12 to 20+ seconds, and dynamic page elements load at inconsistent speeds.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Tests would randomly fail on timing rather than actual defects.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 dirty="0">
                <a:solidFill>
                  <a:srgbClr val="334455"/>
                </a:solidFill>
                <a:latin typeface="Calibri"/>
              </a:rPr>
              <a:t>•  I had to iterate on wait strategies, retry logic, and </a:t>
            </a:r>
            <a:r>
              <a:rPr sz="1100" dirty="0" err="1">
                <a:solidFill>
                  <a:srgbClr val="334455"/>
                </a:solidFill>
                <a:latin typeface="Calibri"/>
              </a:rPr>
              <a:t>WebDriverWait</a:t>
            </a:r>
            <a:r>
              <a:rPr sz="1100" dirty="0">
                <a:solidFill>
                  <a:srgbClr val="334455"/>
                </a:solidFill>
                <a:latin typeface="Calibri"/>
              </a:rPr>
              <a:t> timeouts to get the suite running consistently.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Project Challenges (continued)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54864" cy="2103120"/>
          </a:xfrm>
          <a:prstGeom prst="rect">
            <a:avLst/>
          </a:prstGeom>
          <a:solidFill>
            <a:srgbClr val="E0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325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Git and GitHub Struggles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My local and remote repos had unrelated histories, causing push rejections.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Pulling triggered a merge conflict that opened Vim, which I wasn't familiar with.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Linux commands got pasted into PowerShell by accident when following instructions.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The sandbox couldn't authenticate to GitHub at all, so every push had to be done manually from my own machine.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Individually small issues, but together they consumed a lot of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20440"/>
            <a:ext cx="106984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520440"/>
            <a:ext cx="54864" cy="173736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0E1F3E"/>
                </a:solidFill>
                <a:latin typeface="Trebuchet MS"/>
              </a:rPr>
              <a:t>Tooling and Environment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npm packages for generating Word and PowerPoint files returned 403 errors from the sandbox, forcing a pivot to Python libraries.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File overwrites failed when PowerPoint had lock files open.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LibreOffice rendering in the sandbox didn't always match real Word output.</a:t>
            </a:r>
          </a:p>
          <a:p>
            <a:pPr>
              <a:lnSpc>
                <a:spcPts val="1700"/>
              </a:lnSpc>
              <a:spcAft>
                <a:spcPts val="500"/>
              </a:spcAft>
            </a:pPr>
            <a:r>
              <a:rPr sz="1100">
                <a:solidFill>
                  <a:srgbClr val="334455"/>
                </a:solidFill>
                <a:latin typeface="Calibri"/>
              </a:rPr>
              <a:t>•  None of these were dealbreakers, but they added resistance at nearly every step of the documentation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Trebuchet M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2743200" cy="2743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CCDDEE"/>
                </a:solidFill>
                <a:latin typeface="Calibri"/>
              </a:rPr>
              <a:t>This project demonstrates a production-grade approach to automated web testing that solves real-world challenges including anti-bot protection, dynamic content, and modern Shadow DOM architecture.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92608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Comprehensive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97180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57 tests across 8 classes cover the full Microcenter user journey from homepage browsing through checkout.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044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Anti-Detection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56616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A 4-layer Cloudflare bypass strategy enables reliable testing on protected sites where standard Selenium would be blocked.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160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Scalable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16052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Independent test isolation and configurable parallelism allow the suite to scale from development to CI/CD pipelines.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70916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Reusable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75488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The stealth driver layer and utility classes can be adapted for automated testing of any website with minimal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515600" cy="594360"/>
          </a:xfrm>
          <a:prstGeom prst="rect">
            <a:avLst/>
          </a:prstGeom>
          <a:solidFill>
            <a:srgbClr val="14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54864" cy="5943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51560" y="534924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0A896"/>
                </a:solidFill>
                <a:latin typeface="Trebuchet MS"/>
              </a:rPr>
              <a:t>AI-Assisted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349240"/>
            <a:ext cx="7498079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BCCDD"/>
                </a:solidFill>
                <a:latin typeface="Calibri"/>
              </a:rPr>
              <a:t>Grok was used for research and troubleshooting; Claude assisted in building test classes from written test cases.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SWT2026 Microcenter Project  |  Michael Molczyk  |  FGCU  |  April 2026  |  github.com/MichaelMolczyk/SWT2026MicrocenterProject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2354</Words>
  <Application>Microsoft Office PowerPoint</Application>
  <PresentationFormat>Widescreen</PresentationFormat>
  <Paragraphs>403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Molczyk</cp:lastModifiedBy>
  <cp:revision>2</cp:revision>
  <dcterms:created xsi:type="dcterms:W3CDTF">2013-01-27T09:14:16Z</dcterms:created>
  <dcterms:modified xsi:type="dcterms:W3CDTF">2026-04-18T05:18:26Z</dcterms:modified>
  <cp:category/>
</cp:coreProperties>
</file>