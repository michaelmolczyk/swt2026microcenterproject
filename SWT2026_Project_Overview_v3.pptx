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haelMolczyk/SWT2026MicrocenterProject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4114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Trebuchet MS"/>
              </a:rPr>
              <a:t>SWT2026 Microcenter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00A896"/>
                </a:solidFill>
                <a:latin typeface="Trebuchet MS"/>
              </a:rPr>
              <a:t>Automated Web Testing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Author:  </a:t>
            </a:r>
            <a:r>
              <a:rPr sz="1400">
                <a:solidFill>
                  <a:srgbClr val="FFFFFF"/>
                </a:solidFill>
                <a:latin typeface="Calibri"/>
              </a:rPr>
              <a:t>Michael Molczyk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96511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Course:  </a:t>
            </a:r>
            <a:r>
              <a:rPr sz="1400">
                <a:solidFill>
                  <a:srgbClr val="FFFFFF"/>
                </a:solidFill>
                <a:latin typeface="Calibri"/>
              </a:rPr>
              <a:t>SWT 2026 - Software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43983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Institution:  </a:t>
            </a:r>
            <a:r>
              <a:rPr sz="1400">
                <a:solidFill>
                  <a:srgbClr val="FFFFFF"/>
                </a:solidFill>
                <a:latin typeface="Calibri"/>
              </a:rPr>
              <a:t>FGCU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91455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Date:  </a:t>
            </a:r>
            <a:r>
              <a:rPr sz="1400">
                <a:solidFill>
                  <a:srgbClr val="FFFFFF"/>
                </a:solidFill>
                <a:latin typeface="Calibri"/>
              </a:rPr>
              <a:t>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github.com/MichaelMolczyk/SWT2026MicrocenterProject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1.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49807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455"/>
                </a:solidFill>
                <a:latin typeface="Calibri"/>
              </a:rPr>
              <a:t>Build a comprehensive automated end-to-end web testing suite for Microcenter.com, a major electronics retail e-commerce website. The suite validates core user-facing functionality using Java, Selenium WebDriver, TestNG, and Maven, while incorporating stealth browser automation to bypass Cloudflare anti-bot protection.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1280160"/>
            <a:ext cx="310896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0" y="13716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B0E0DB"/>
                </a:solidFill>
                <a:latin typeface="Trebuchet MS"/>
              </a:rPr>
              <a:t>TARGET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69164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microcenter.com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Features Under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Homepage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Carousel scrolling, banner ads, category navigation, interactive elements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42900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342900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Top Deals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6791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Price range filtering, pagination, Quick View popups, add-to-cart from listings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42900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342900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35661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Add-to-Cart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86791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Popup interactions, continue shopping, view cart, cross-sell suggestions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61772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Shopping 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5663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Add/remove items, saved list management, checkout flow, store 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61772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461772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754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Computer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05663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Sidebar links, embedded video, promotional banners, product images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61772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0" y="461772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4754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Dropdown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05663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Computers, PC Parts, Apple dropdown menus vs page-level link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2. Test Execution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441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Maven Invocation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mvn test triggers Surefire Plugin, reads testng.xml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13716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441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TestNG Suite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Parses 8 test groups with parallel="classes"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0" y="13716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3441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Thread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7830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Creates thread pool (up to 4 threads) for parallel class 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8152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@BeforeMethod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Builds UndetectedChromeDriver with 14 stealth JS scripts via CDP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9718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89120" y="31089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08152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Cloudflare Bypass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Opens new tab, waits 12-20s for JS challenge, checks cf_clearance cookie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9718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0" y="31089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08152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Popup Dismissal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5204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Traverses Shadow DOM to close modals, checks regular DOM overlays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0916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1888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Test 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Assertions via WebDriverWait (15s), Actions API, JavaScript execution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70916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89120" y="48463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81888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@AfterMethod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2578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driver.quit() closes browser, cleans temp data, releases thread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470916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46720" y="48463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81888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2578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TestNG generates HTML/XML reports in target/surefire-reports/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Cloudflare Bypass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455"/>
                </a:solidFill>
                <a:latin typeface="Calibri"/>
              </a:rPr>
              <a:t>A multi-layered approach to bypassing Cloudflare anti-bot detection, which would otherwise block Selenium-driven browsers.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103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11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Driver Patching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31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DriverPatcher replaces the cdc_ detection string in the ChromeDriver binary with a benign variable name, preventing JavaScript-based driver detection.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063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" y="3246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54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Stealth 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14 JavaScript evasion scripts injected via CDP on every new document, masking navigator.webdriver, chrome.runtime, plugins, permissions, WebGL vendor, and more.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5840" y="4389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498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297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Challenge Wait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617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cloudflareGet() opens the target URL in a new tab and waits 12-20 seconds for the Cloudflare JS challenge to auto-solve, then checks for the cf_clearance cookie.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349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840" y="5532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641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440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Human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760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Random delays of 1-3 seconds between actions, realistic 1920x1080 resolution, real user agent string, and natural browsing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3. 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E1F3E"/>
                </a:solidFill>
                <a:latin typeface="Trebuchet MS"/>
              </a:rPr>
              <a:t>Core Stack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6479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Java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Primary programming language for all test classes and utility code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03704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1305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Selenium 4.29.0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3055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Browser automation: WebDriver API, Actions, WebDriverWait, locators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42616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69464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TestNG 7.9.0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69464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Test framework: annotations, assertions, parallel execution, reporting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081528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008376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Maven 3.x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08376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Build tool and dependency manager with Surefire Plugin (3.2.5)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44728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Google Chrome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447288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Target browser, auto-detected via system path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95935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8862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Git /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88620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Version control and remote repository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E1F3E"/>
                </a:solidFill>
                <a:latin typeface="Trebuchet MS"/>
              </a:rPr>
              <a:t>AI-Assisted Development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91947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8463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Grok (xAI)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4632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Research and troubleshooting for Cloudflare bypass strategies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358384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528523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dirty="0">
                <a:solidFill>
                  <a:srgbClr val="0E1F3E"/>
                </a:solidFill>
                <a:latin typeface="Calibri"/>
              </a:rPr>
              <a:t>Claude (Anthropic) - $1</a:t>
            </a:r>
            <a:r>
              <a:rPr lang="en-US" sz="1300" b="1" dirty="0">
                <a:solidFill>
                  <a:srgbClr val="0E1F3E"/>
                </a:solidFill>
                <a:latin typeface="Calibri"/>
              </a:rPr>
              <a:t>6</a:t>
            </a:r>
            <a:r>
              <a:rPr sz="1300" b="1" dirty="0">
                <a:solidFill>
                  <a:srgbClr val="0E1F3E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28523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Building test classes from written test cases (paid subscription)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Supporting Libraries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619963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6126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Lombok 1.18.34 / SLF4J 2.0.16 / Gson 2.11.0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612648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Code gen, logging, JSON parsing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234440"/>
            <a:ext cx="4297680" cy="53035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1417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Anti-Detection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01168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89520" y="201168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208483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UndetectedChromeDriver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37744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Wrapper with binary patching, CDP stealth, cloudflareGet()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06324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89520" y="306324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13639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DriverPatcher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42900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Downloads and patches ChromeDriver to remove cdc_ markers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589520" y="411480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63840" y="418795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SeleniumStealthOptions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48056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Injects 14 JS evasion scripts via Chrome DevTools Protocol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516636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589520" y="516636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63840" y="523951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Stealth JS Library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53212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Masks webdriver, runtime, plugins, WebGL, permissions, codecs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4. Test Suite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65A82"/>
                </a:solidFill>
                <a:latin typeface="Trebuchet M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Test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3444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17520" y="123444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371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65A82"/>
                </a:solidFill>
                <a:latin typeface="Trebuchet MS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Test Classes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3444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0" y="123444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371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65A82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288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Parallel Threads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496312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Test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9631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963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496312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34640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889504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homePage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88950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89504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HP_01-06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89504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Carousel, banners, category navigation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328416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topDealsPage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32841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32841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TD_01-08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28416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Filters, pagination, Quick View, add-to-cart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12464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76732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addToCart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6732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6732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ATC_01-06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767328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Popup close, continue shopping, cross-sell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51376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2062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cart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20624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2062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C_01-06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062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Add/remove, saved list, checkout, store 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590288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4645152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compPage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64515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64515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CPE_01-05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645152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Sidebar links, video embed, banners, images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29200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084064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compCompare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08406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084064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CDC_01-08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084064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Compares dropdown links and side list links of similar names to verify they lead to the same page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468112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522976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pcCompare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52297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52297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PCDC_01-12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522976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Compares dropdown links and side list links of similar names to verify they lead to the same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907024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596188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appleCompare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596188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596188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ADC_01-06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961888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Compares dropdown links and ribbon bar links of similar names to verify they lead to the same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Homepage &amp; Top Deals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homePage.java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HP_01 - HP_06  |  Homepage carousel and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testTopDealsScroll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Verify Top Deals carousel scrolling with multiple fallback strategies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83464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testTopDealsAddMemory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Click Top Deals category and add item to cart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47472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testSideAdChangeWithArrow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Side ad carousel: right 5x, left 6x arrow navigation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11480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testSideAdChangeWithDot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Side ad carousel dot-based navigation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75488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testTopAdChangeWithArrow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Top banner carousel arrow navigation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3949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94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testTopAdChangeWithDot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Top banner carousel dot navigation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topDealsPage.java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 tests  |  TD_01 - TD_08  |  Top Deals filters, pagination, Quick 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testPriceRangeSlide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450592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Adjust price slider to $25-$500 range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715767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2734055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715767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testPriceRangeApplyFilter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971799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Apply filter button with price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236974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255262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23697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testChangeItemsPerPage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3493006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Change pagination to 96 items per page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758181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3776469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758181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testIncludeOutOfStock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14213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Toggle 2 out-of-stock checkboxes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279388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297676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27938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testQuickViewCloseX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4535420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Quick View popup close with X button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800595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4818883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4800595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testQuickViewClickOff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056627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Quick View close by clicking outside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5321802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534009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532180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testQuickViewAddToCart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5577834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Quick View ADD TO CART button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5843009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3680" y="5861297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584300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testAddToCartFromListing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6099041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Direct ADD TO CART from product listing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Add-to-Cart &amp; Cart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addToCart.java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ATC_01 - ATC_06  |  Add-to-cart popup interactions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testScrollInPopup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Scroll within the Add to Cart popup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83464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testClosePopupWithX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Close popup using the X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47472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testClosePopupClickOff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Close popup by clicking outside the overlay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11480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testContinueShopping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CONTINUE SHOPPING button closes popup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75488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testAddAnotherItem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Add cross-sell product from BOUGHT WITH section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3949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94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testViewCart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VIEW CART button navigates to cart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cart.java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C_01 - C_06  |  Shopping cart operations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testAddFromCartToList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Move item to saved list using List button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83464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testAddFromListToCart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Move item from list back to cart via Pickup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47472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testRemoveItem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Remove item from cart with Remove button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11480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testMapYourTrip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MAP YOUR TRIP displays store location map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75488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testCheckout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CHECKOUT button navigates to checkout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3949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394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testPrintMap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Print store map functionality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Computers &amp;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compPage.java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 tests  |  CPE_01 - CPE_05  |  Computer category page elements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testDesktopLinksMatch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Sidebar and main content desktop links point to same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443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260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testYouTubeEmbed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004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Verify YouTube embedded video displays correctly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5760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6758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57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testComputerSideBanner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9319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Computer side banner displays and is clickable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8912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074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3891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testPriorityCareBanner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6634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Priority Care banner displays and is interactive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12064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138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120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testImageVerification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394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Product/promotional image loads correctly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compCompare.java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 tests  |  CDC_01 - CDC_08  |  Dropdown vs side list link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19456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Desktop Computers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450592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715767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734055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715767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Gaming Desktops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971799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236974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3255262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236974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Refurbished Desktops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3493006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758181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776469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58181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Desktop Workstations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014213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279388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4297676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279388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Laptops/Notebooks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535420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800595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818883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800595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Refurbished Laptops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056627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321802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534009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321802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Laptop Workstations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577834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5843009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5861297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5843009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Servers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6099041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PC Parts &amp; Apple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pcCompare.java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12 tests  |  PCDC_01 - PCDC_12  |  Dropdown vs side list link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03704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9456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AMD Bundles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578608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587752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57860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Intel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962656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62656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ASUS Build Bundles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346704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355848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46704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Corsair Build Bundles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730752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739896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730752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Processors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114800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123944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11480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Motherboards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498848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507992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49884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Graphics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882896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892040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882896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Computer Memory/RAM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266944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276088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266944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Hard Drives &amp; SSDs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5650992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660136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650992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Computer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6035040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6044184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603504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Power Supplies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6419088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6428232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641908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Fans &amp; Cooling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23444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appleCompare.java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ADC_01 - ADC_06  |  Dropdown vs ribbon bar link comparison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19456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MacBook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83464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83464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Mac Desktops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347472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347472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iPad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411480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411480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Apple Watch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75488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368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475488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AirPods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53949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8368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539496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Accessories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me.bramar.undetectedselenium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Stealth driver: UndetectedChromeDriver, DriverPatcher, SeleniumStealthOptions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org.example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5351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8 test classes + TestUtils + StealthValidation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src/main/selenium-stealth/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2219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14 JavaScript evasion scripts (chrome, navigator, WebGL, etc.)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4340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testng.xml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9087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Suite config: 8 groups, parallel classes, configurable threads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pom.xml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5955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Maven build: Java 17, Selenium 4.29.0, TestNG 7.9.0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Key Design Decisions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7373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0" y="17373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1783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Independent Browser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0848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Each test creates and destroys its own Chrome instance for complete isolation and parallel safety.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6517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0" y="26517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2697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Cloudflare-First Navigation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9992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Every first-load goes through cloudflareGet(); subsequent loads use standard driver.get() with existing cookies.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5661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0" y="35661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3611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Shadow DOM Awareness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136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Popup dismissal traverses Shadow DOM using JavaScript for modern web components.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4805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0" y="44805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4526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Centralized Utilities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280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TestUtils provides click, scroll, hover, find, and navigation helpers across all 8 test classes.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3949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3680" y="53949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5440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Configurable Parallelism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424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Thread count adjustable in testng.xml from 1 (sequential) to 8 (full parallel) with no code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Execution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Total Test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Across 8 independent test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7373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9202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4688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889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Homepage, Top Deals, Cart, Compare, and more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7373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598" y="17373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8" y="19202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8" y="24688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Max Parallel Threads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7889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Configurable via testng.xml thread-count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749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Stealth JS 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Injected via Chrome DevTools Protocol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5661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59" y="35661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3749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12-20s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2976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CF Bypass 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Per first navigation with cookie persistence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8" y="35661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598" y="35661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8" y="3749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mvn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42976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Run 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8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Single command to execute full test suite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SWT2026 Microcenter Project  |  Michael Molczyk  |  FGCU  |  April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Last Test Run: April 17, 2026  |  TestNG Suite Execution via IntelliJ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0116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065A82"/>
                </a:solidFill>
                <a:latin typeface="Trebuchet M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334455"/>
                </a:solidFill>
                <a:latin typeface="Calibri"/>
              </a:rPr>
              <a:t>Total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828800"/>
            <a:ext cx="2011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18288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0116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10B981"/>
                </a:solidFill>
                <a:latin typeface="Trebuchet MS"/>
              </a:rPr>
              <a:t>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060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334455"/>
                </a:solidFill>
                <a:latin typeface="Calibri"/>
              </a:rPr>
              <a:t>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828800"/>
            <a:ext cx="2011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0116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EF4444"/>
                </a:solidFill>
                <a:latin typeface="Trebuchet M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6060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334455"/>
                </a:solidFill>
                <a:latin typeface="Calibri"/>
              </a:rPr>
              <a:t>Failed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828800"/>
            <a:ext cx="2011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18288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20116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59E0B"/>
                </a:solidFill>
                <a:latin typeface="Trebuchet M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6060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334455"/>
                </a:solidFill>
                <a:latin typeface="Calibri"/>
              </a:rPr>
              <a:t>Skipped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828800"/>
            <a:ext cx="2011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0" y="1828800"/>
            <a:ext cx="201168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2011680"/>
            <a:ext cx="2011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065A82"/>
                </a:solidFill>
                <a:latin typeface="Trebuchet MS"/>
              </a:rPr>
              <a:t>98.2%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060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334455"/>
                </a:solidFill>
                <a:latin typeface="Calibri"/>
              </a:rPr>
              <a:t>Pass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337560"/>
            <a:ext cx="1069848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337560"/>
            <a:ext cx="10510787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242307" y="3337560"/>
            <a:ext cx="187692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Results by Test Class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7498079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178808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Test 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178808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Passed /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17880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507992"/>
            <a:ext cx="7498079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535424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homePage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53542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 /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53542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791456"/>
            <a:ext cx="7498079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81888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topDealsPage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81888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8 /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81888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074920"/>
            <a:ext cx="7498079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10235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addToCart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10235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 /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10235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358384"/>
            <a:ext cx="7498079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385816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cart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385816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5 /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38581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1 FAIL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641848"/>
            <a:ext cx="7498079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20" y="56692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compPage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6692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5 /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6692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925312"/>
            <a:ext cx="7498079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5952744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compCompare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952744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8 / 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95274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6208776"/>
            <a:ext cx="7498079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20" y="623620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pcCompare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623620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12 / 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623620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6492240"/>
            <a:ext cx="7498079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6519672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appleCompare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6519672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 / 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651967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3794760"/>
            <a:ext cx="31089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503920" y="3794760"/>
            <a:ext cx="54864" cy="2926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78240" y="38862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F4444"/>
                </a:solidFill>
                <a:latin typeface="Trebuchet MS"/>
              </a:rPr>
              <a:t>Failed Test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4206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onsolas"/>
              </a:rPr>
              <a:t>cart.testRemoveItem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4526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C_03: Remove item from cart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0" y="4892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334455"/>
                </a:solidFill>
                <a:latin typeface="Calibri"/>
              </a:rPr>
              <a:t>Root Cause: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516636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TimeoutException — the XPath selector for the Remove button didn't match Microcenter's actual DOM structure. The element uses a different markup pattern than expected. Fixed with a multi-strategy fallback approach.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53796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dirty="0">
                <a:solidFill>
                  <a:srgbClr val="94A3B8"/>
                </a:solidFill>
                <a:latin typeface="Calibri"/>
              </a:rPr>
              <a:t>Report: target/surefire-reports/index.html  |  Custom: target/custom-report/TestReport.html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Project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4864" cy="210312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Cloudflare Anti-Bot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Standard Selenium is immediately detected and blocked by Cloudflare, so no test could even load the site.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Claude didn't have a solution, so I had to bring Grok (xAI) onto the team specifically to research how to get around this.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Through that research I found the undetectedselenium Java library by bramar2, which became the backbone of the entire stealth layer.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Getting all four evasion layers (binary patching, 14 stealth JS scripts, challenge wait timing, and human behavior simulation) working together reliably took significant experimentation by Claude.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10698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54864" cy="155448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AI Assistants Required Constant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23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While Claude did well in generating code, it would frequently get stuck in loops trying to solve the same problem.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I had to frequently remind it that it was wasting time and that it had done similar tasks before.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Having all the requirements for test cases and a premade structure for the project environment helped significantly.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The more foundation the AI has, the easier the process will be.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57800"/>
            <a:ext cx="106984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5257800"/>
            <a:ext cx="54864" cy="1280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Test Flakiness from Unpredictable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Cloudflare's JS challenge resolves anywhere from 12 to 20+ seconds, and dynamic page elements load at inconsistent speeds.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Tests would randomly fail on timing rather than actual defects.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I had to iterate on wait strategies, retry logic, and WebDriverWait timeouts to get the suite running consistently.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Project Challenges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4864" cy="210312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Git and GitHub Struggles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My local and remote repos had unrelated histories, causing push rejections.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Pulling triggered a merge conflict that opened Vim, which I wasn't familiar with.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Linux commands got pasted into PowerShell by accident when following instructions.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The sandbox couldn't authenticate to GitHub at all, so every push had to be done manually from my own machine.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Individually small issues, but together they consumed a lot of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106984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54864" cy="173736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Tooling and Environment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npm packages for generating Word and PowerPoint files returned 403 errors from the sandbox, forcing a pivot to Python libraries.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File overwrites failed when PowerPoint had lock files open.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LibreOffice rendering in the sandbox didn't always match real Word output.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None of these were dealbreakers, but they added resistance at nearly every step of the documentation process.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FE552-7C93-CCAC-4871-57375799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2E641-1484-C791-D4A0-6BA1CBEECA8D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F5C44-8797-393D-CB23-881288B84637}"/>
              </a:ext>
            </a:extLst>
          </p:cNvPr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Trebuchet MS"/>
              </a:rPr>
              <a:t>The seed</a:t>
            </a:r>
            <a:endParaRPr sz="3200" b="1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FC033-7091-B84D-DA30-FB168261DDAA}"/>
              </a:ext>
            </a:extLst>
          </p:cNvPr>
          <p:cNvSpPr/>
          <p:nvPr/>
        </p:nvSpPr>
        <p:spPr>
          <a:xfrm>
            <a:off x="731520" y="123444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ECF5D-C92E-4AC5-4243-2CA29AF549E7}"/>
              </a:ext>
            </a:extLst>
          </p:cNvPr>
          <p:cNvSpPr/>
          <p:nvPr/>
        </p:nvSpPr>
        <p:spPr>
          <a:xfrm>
            <a:off x="731520" y="1234440"/>
            <a:ext cx="54864" cy="210312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B7CF5-6C8E-BFCD-3E00-30E168BE8224}"/>
              </a:ext>
            </a:extLst>
          </p:cNvPr>
          <p:cNvSpPr txBox="1"/>
          <p:nvPr/>
        </p:nvSpPr>
        <p:spPr>
          <a:xfrm>
            <a:off x="1051560" y="1325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600" b="1" dirty="0">
                <a:solidFill>
                  <a:srgbClr val="0E1F3E"/>
                </a:solidFill>
                <a:latin typeface="Trebuchet MS"/>
              </a:rPr>
              <a:t>What is it and why it matters</a:t>
            </a:r>
            <a:endParaRPr sz="1600" b="1" dirty="0">
              <a:solidFill>
                <a:srgbClr val="0E1F3E"/>
              </a:solidFill>
              <a:latin typeface="Trebuchet M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02F75-26B8-1DA2-D90A-3F196898538F}"/>
              </a:ext>
            </a:extLst>
          </p:cNvPr>
          <p:cNvSpPr txBox="1"/>
          <p:nvPr/>
        </p:nvSpPr>
        <p:spPr>
          <a:xfrm>
            <a:off x="1078992" y="1760220"/>
            <a:ext cx="10058400" cy="947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lang="en-US" sz="1100" dirty="0">
                <a:solidFill>
                  <a:srgbClr val="334455"/>
                </a:solidFill>
                <a:latin typeface="Calibri"/>
              </a:rPr>
              <a:t>The “seed” is a prompt generated by my session of Claude to help future, unconnected versions replicate my progress with greater ease.</a:t>
            </a:r>
            <a:br>
              <a:rPr lang="en-US" sz="1100" dirty="0">
                <a:solidFill>
                  <a:srgbClr val="334455"/>
                </a:solidFill>
                <a:latin typeface="Calibri"/>
              </a:rPr>
            </a:br>
            <a:r>
              <a:rPr lang="en-US" sz="1100" dirty="0">
                <a:solidFill>
                  <a:srgbClr val="334455"/>
                </a:solidFill>
                <a:latin typeface="Calibri"/>
              </a:rPr>
              <a:t>I did this to save both time and money for whoever uses this method next.</a:t>
            </a:r>
            <a:br>
              <a:rPr lang="en-US" sz="1100" dirty="0">
                <a:solidFill>
                  <a:srgbClr val="334455"/>
                </a:solidFill>
                <a:latin typeface="Calibri"/>
              </a:rPr>
            </a:br>
            <a:r>
              <a:rPr lang="en-US" sz="1100" dirty="0">
                <a:solidFill>
                  <a:srgbClr val="334455"/>
                </a:solidFill>
                <a:latin typeface="Calibri"/>
              </a:rPr>
              <a:t>The “seed” is found in the Public </a:t>
            </a:r>
            <a:r>
              <a:rPr lang="en-US" sz="1100">
                <a:solidFill>
                  <a:srgbClr val="334455"/>
                </a:solidFill>
                <a:latin typeface="Calibri"/>
              </a:rPr>
              <a:t>GitHub Repo:</a:t>
            </a:r>
            <a:br>
              <a:rPr lang="en-US" sz="1100" dirty="0">
                <a:solidFill>
                  <a:srgbClr val="334455"/>
                </a:solidFill>
                <a:latin typeface="Calibri"/>
              </a:rPr>
            </a:br>
            <a:r>
              <a:rPr lang="en-US" sz="1100" dirty="0">
                <a:solidFill>
                  <a:srgbClr val="334455"/>
                </a:solidFill>
                <a:latin typeface="Calibri"/>
                <a:hlinkClick r:id="rId2"/>
              </a:rPr>
              <a:t>https://github.com/MichaelMolczyk</a:t>
            </a:r>
            <a:r>
              <a:rPr lang="en-US" sz="1100">
                <a:solidFill>
                  <a:srgbClr val="334455"/>
                </a:solidFill>
                <a:latin typeface="Calibri"/>
                <a:hlinkClick r:id="rId2"/>
              </a:rPr>
              <a:t>/SWT2026MicrocenterProject</a:t>
            </a:r>
            <a:r>
              <a:rPr lang="en-US" sz="1100">
                <a:solidFill>
                  <a:srgbClr val="334455"/>
                </a:solidFill>
                <a:latin typeface="Calibri"/>
              </a:rPr>
              <a:t> </a:t>
            </a:r>
            <a:endParaRPr sz="1100" dirty="0">
              <a:solidFill>
                <a:srgbClr val="3344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318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Trebuchet M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This project demonstrates a production-grade approach to automated web testing that solves real-world challenges including anti-bot protection, dynamic content, and modern Shadow DOM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Comprehensive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7180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57 tests across 8 classes cover the full Microcenter user journey from homepage browsing through checkout.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Anti-Detection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6616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A 4-layer Cloudflare bypass strategy enables reliable testing on protected sites where standard Selenium would be blocked.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60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Scalable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Independent test isolation and configurable parallelism allow the suite to scale from development to CI/CD pipelines.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Reusable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75488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The stealth driver layer and utility classes can be adapted for automated testing of any website with minimal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349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AI-Assisted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34924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Grok was used for research and troubleshooting; Claude assisted in building test classes from written test cases.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SWT2026 Microcenter Project  |  Michael Molczyk  |  FGCU  |  April 2026  |  github.com/MichaelMolczyk/SWT2026MicrocenterProject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2571</Words>
  <Application>Microsoft Office PowerPoint</Application>
  <PresentationFormat>Widescreen</PresentationFormat>
  <Paragraphs>451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Molczyk</cp:lastModifiedBy>
  <cp:revision>3</cp:revision>
  <dcterms:created xsi:type="dcterms:W3CDTF">2013-01-27T09:14:16Z</dcterms:created>
  <dcterms:modified xsi:type="dcterms:W3CDTF">2026-04-18T08:27:30Z</dcterms:modified>
  <cp:category/>
</cp:coreProperties>
</file>